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7864475" cy="50323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22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910" y="62910"/>
            <a:ext cx="7738018" cy="2595067"/>
          </a:xfrm>
          <a:prstGeom prst="rect">
            <a:avLst/>
          </a:prstGeom>
          <a:solidFill>
            <a:srgbClr val="FAFAFA"/>
          </a:solidFill>
          <a:ln w="9525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0342" y="62910"/>
            <a:ext cx="3308021" cy="209288"/>
          </a:xfrm>
          <a:prstGeom prst="rect">
            <a:avLst/>
          </a:prstGeom>
          <a:noFill/>
        </p:spPr>
        <p:txBody>
          <a:bodyPr wrap="none" lIns="36576" tIns="9144">
            <a:spAutoFit/>
          </a:bodyPr>
          <a:lstStyle/>
          <a:p>
            <a:r>
              <a:rPr sz="1000" b="1" i="1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phase (fraud records of the training partition only)</a:t>
            </a:r>
          </a:p>
        </p:txBody>
      </p:sp>
      <p:sp>
        <p:nvSpPr>
          <p:cNvPr id="4" name="Rectangle 3"/>
          <p:cNvSpPr/>
          <p:nvPr/>
        </p:nvSpPr>
        <p:spPr>
          <a:xfrm>
            <a:off x="62910" y="2752344"/>
            <a:ext cx="7738018" cy="2217602"/>
          </a:xfrm>
          <a:prstGeom prst="rect">
            <a:avLst/>
          </a:prstGeom>
          <a:solidFill>
            <a:srgbClr val="FAFAFA"/>
          </a:solidFill>
          <a:ln w="9525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8981" y="4678984"/>
            <a:ext cx="2530565" cy="209288"/>
          </a:xfrm>
          <a:prstGeom prst="rect">
            <a:avLst/>
          </a:prstGeom>
          <a:noFill/>
        </p:spPr>
        <p:txBody>
          <a:bodyPr wrap="none" lIns="36576" tIns="9144">
            <a:spAutoFit/>
          </a:bodyPr>
          <a:lstStyle/>
          <a:p>
            <a:r>
              <a:rPr sz="1000" b="1" i="1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Sampling phase and controlled augmentation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7276" y="330281"/>
            <a:ext cx="1494129" cy="1022299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training frauds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x₀ ∈ ℝᵈ, standardized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ULB: 344 records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IEEE-CIS: 4,000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87321" y="330281"/>
            <a:ext cx="1572768" cy="1022299"/>
          </a:xfrm>
          <a:prstGeom prst="roundRect">
            <a:avLst>
              <a:gd name="adj" fmla="val 8000"/>
            </a:avLst>
          </a:prstGeom>
          <a:solidFill>
            <a:srgbClr val="EEF3E8"/>
          </a:solidFill>
          <a:ln w="12700">
            <a:solidFill>
              <a:srgbClr val="4E7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4E7A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Forward noising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q(xₜ | xₜ₋₁), Eqs. 4–5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β from 10⁻⁴ to 0.02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= 200 steps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~ U{1, T}, ε ~ N(0, 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96004" y="330281"/>
            <a:ext cx="2123236" cy="2217602"/>
          </a:xfrm>
          <a:prstGeom prst="roundRect">
            <a:avLst>
              <a:gd name="adj" fmla="val 8000"/>
            </a:avLst>
          </a:prstGeom>
          <a:solidFill>
            <a:srgbClr val="EEF3E8"/>
          </a:solidFill>
          <a:ln w="12700">
            <a:solidFill>
              <a:srgbClr val="4E7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813962" y="377464"/>
            <a:ext cx="1887321" cy="267370"/>
          </a:xfrm>
          <a:prstGeom prst="roundRect">
            <a:avLst>
              <a:gd name="adj" fmla="val 8000"/>
            </a:avLst>
          </a:prstGeom>
          <a:noFill/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4E7A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Denoiser εθ(xₜ, 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53281" y="676290"/>
            <a:ext cx="1022299" cy="26737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8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projection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53281" y="1006571"/>
            <a:ext cx="1022299" cy="26737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8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Residual block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53281" y="1321125"/>
            <a:ext cx="1022299" cy="26737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8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Residual block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53281" y="1635678"/>
            <a:ext cx="1022299" cy="26737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8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Residual block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53281" y="1950232"/>
            <a:ext cx="1022299" cy="26737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8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Residual block 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53281" y="2264785"/>
            <a:ext cx="1022299" cy="235915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8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 predicted 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93538" y="676290"/>
            <a:ext cx="747064" cy="707745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80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Sinusoidal</a:t>
            </a:r>
          </a:p>
          <a:p>
            <a:pPr algn="ctr"/>
            <a:r>
              <a:rPr sz="80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</a:p>
          <a:p>
            <a:pPr algn="ctr"/>
            <a:r>
              <a:rPr sz="80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embedding (t)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93538" y="1446946"/>
            <a:ext cx="747064" cy="1053754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80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block:</a:t>
            </a:r>
          </a:p>
          <a:p>
            <a:pPr algn="ctr"/>
            <a:r>
              <a:rPr sz="80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LayerNorm, SiLU,</a:t>
            </a:r>
          </a:p>
          <a:p>
            <a:pPr algn="ctr"/>
            <a:r>
              <a:rPr sz="80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+ time</a:t>
            </a:r>
          </a:p>
          <a:p>
            <a:pPr algn="ctr"/>
            <a:r>
              <a:rPr sz="80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projection,</a:t>
            </a:r>
          </a:p>
          <a:p>
            <a:pPr algn="ctr"/>
            <a:r>
              <a:rPr sz="80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skip</a:t>
            </a:r>
          </a:p>
        </p:txBody>
      </p:sp>
      <p:cxnSp>
        <p:nvCxnSpPr>
          <p:cNvPr id="18" name="Connector 17"/>
          <p:cNvCxnSpPr>
            <a:stCxn id="10" idx="2"/>
            <a:endCxn id="11" idx="0"/>
          </p:cNvCxnSpPr>
          <p:nvPr/>
        </p:nvCxnSpPr>
        <p:spPr>
          <a:xfrm flipH="1">
            <a:off x="4364430" y="943660"/>
            <a:ext cx="0" cy="62911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stCxn id="11" idx="2"/>
            <a:endCxn id="12" idx="0"/>
          </p:cNvCxnSpPr>
          <p:nvPr/>
        </p:nvCxnSpPr>
        <p:spPr>
          <a:xfrm flipH="1">
            <a:off x="4364430" y="1273941"/>
            <a:ext cx="0" cy="47184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stCxn id="12" idx="2"/>
            <a:endCxn id="13" idx="0"/>
          </p:cNvCxnSpPr>
          <p:nvPr/>
        </p:nvCxnSpPr>
        <p:spPr>
          <a:xfrm flipH="1">
            <a:off x="4364430" y="1588495"/>
            <a:ext cx="0" cy="47183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stCxn id="13" idx="2"/>
            <a:endCxn id="14" idx="0"/>
          </p:cNvCxnSpPr>
          <p:nvPr/>
        </p:nvCxnSpPr>
        <p:spPr>
          <a:xfrm flipH="1">
            <a:off x="4364430" y="1903048"/>
            <a:ext cx="0" cy="47184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stCxn id="14" idx="2"/>
            <a:endCxn id="15" idx="0"/>
          </p:cNvCxnSpPr>
          <p:nvPr/>
        </p:nvCxnSpPr>
        <p:spPr>
          <a:xfrm flipH="1">
            <a:off x="4364430" y="2217602"/>
            <a:ext cx="0" cy="47183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055156" y="330281"/>
            <a:ext cx="1651406" cy="1022299"/>
          </a:xfrm>
          <a:prstGeom prst="roundRect">
            <a:avLst>
              <a:gd name="adj" fmla="val 8000"/>
            </a:avLst>
          </a:prstGeom>
          <a:solidFill>
            <a:srgbClr val="EEF3E8"/>
          </a:solidFill>
          <a:ln w="12700">
            <a:solidFill>
              <a:srgbClr val="4E7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4E7A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and training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‖ε − εθ‖², Eq. 6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Adam, lr 0.001, batch 64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 of weights (0.995)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stopping rule, Eq. 7</a:t>
            </a:r>
          </a:p>
        </p:txBody>
      </p:sp>
      <p:cxnSp>
        <p:nvCxnSpPr>
          <p:cNvPr id="24" name="Connector 23"/>
          <p:cNvCxnSpPr>
            <a:stCxn id="6" idx="3"/>
            <a:endCxn id="7" idx="1"/>
          </p:cNvCxnSpPr>
          <p:nvPr/>
        </p:nvCxnSpPr>
        <p:spPr>
          <a:xfrm flipV="1">
            <a:off x="1651405" y="841430"/>
            <a:ext cx="235916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stCxn id="7" idx="3"/>
            <a:endCxn id="8" idx="1"/>
          </p:cNvCxnSpPr>
          <p:nvPr/>
        </p:nvCxnSpPr>
        <p:spPr>
          <a:xfrm>
            <a:off x="3460089" y="841430"/>
            <a:ext cx="235915" cy="597652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stCxn id="8" idx="3"/>
            <a:endCxn id="23" idx="1"/>
          </p:cNvCxnSpPr>
          <p:nvPr/>
        </p:nvCxnSpPr>
        <p:spPr>
          <a:xfrm flipV="1">
            <a:off x="5819240" y="841430"/>
            <a:ext cx="235916" cy="597652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055156" y="1494129"/>
            <a:ext cx="1651406" cy="1053754"/>
          </a:xfrm>
          <a:prstGeom prst="roundRect">
            <a:avLst>
              <a:gd name="adj" fmla="val 8000"/>
            </a:avLst>
          </a:prstGeom>
          <a:solidFill>
            <a:srgbClr val="F1ECF8"/>
          </a:solidFill>
          <a:ln w="12700">
            <a:solidFill>
              <a:srgbClr val="6A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6A3F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Released artefact 1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trained generator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white-box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 attack (Eq. 14)</a:t>
            </a:r>
          </a:p>
        </p:txBody>
      </p:sp>
      <p:cxnSp>
        <p:nvCxnSpPr>
          <p:cNvPr id="28" name="Connector 27"/>
          <p:cNvCxnSpPr>
            <a:stCxn id="23" idx="2"/>
            <a:endCxn id="27" idx="0"/>
          </p:cNvCxnSpPr>
          <p:nvPr/>
        </p:nvCxnSpPr>
        <p:spPr>
          <a:xfrm flipH="1">
            <a:off x="6880859" y="1352580"/>
            <a:ext cx="0" cy="141549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57276" y="3019714"/>
            <a:ext cx="1494129" cy="943660"/>
          </a:xfrm>
          <a:prstGeom prst="roundRect">
            <a:avLst>
              <a:gd name="adj" fmla="val 8000"/>
            </a:avLst>
          </a:prstGeom>
          <a:solidFill>
            <a:srgbClr val="EEF3E8"/>
          </a:solidFill>
          <a:ln w="12700">
            <a:solidFill>
              <a:srgbClr val="4E7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4E7A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Gaussian noise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x(T) ~ N(0, I)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unconditional model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87321" y="3019714"/>
            <a:ext cx="2280513" cy="943660"/>
          </a:xfrm>
          <a:prstGeom prst="roundRect">
            <a:avLst>
              <a:gd name="adj" fmla="val 8000"/>
            </a:avLst>
          </a:prstGeom>
          <a:solidFill>
            <a:srgbClr val="EEF3E8"/>
          </a:solidFill>
          <a:ln w="12700">
            <a:solidFill>
              <a:srgbClr val="4E7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4E7A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Iterative reverse diffusion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= T, …, 1 with trained εθ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ancestral sampling, Eq. 8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σₜ² = βₜ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03750" y="3019714"/>
            <a:ext cx="1572768" cy="94366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12700">
            <a:solidFill>
              <a:srgbClr val="C0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C07A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Synthetic frauds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 = r × number of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frauds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∈ {0.5, 1, 2, 5, 10}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2433" y="3019714"/>
            <a:ext cx="1494129" cy="94366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 w="12700">
            <a:solidFill>
              <a:srgbClr val="1B7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1B7F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Augmented training set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majority + real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frauds + synthetic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frauds (Eq. 2)</a:t>
            </a:r>
          </a:p>
        </p:txBody>
      </p:sp>
      <p:cxnSp>
        <p:nvCxnSpPr>
          <p:cNvPr id="33" name="Connector 32"/>
          <p:cNvCxnSpPr>
            <a:stCxn id="29" idx="3"/>
            <a:endCxn id="30" idx="1"/>
          </p:cNvCxnSpPr>
          <p:nvPr/>
        </p:nvCxnSpPr>
        <p:spPr>
          <a:xfrm flipV="1">
            <a:off x="1651405" y="3491544"/>
            <a:ext cx="235916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>
            <a:stCxn id="30" idx="3"/>
            <a:endCxn id="31" idx="1"/>
          </p:cNvCxnSpPr>
          <p:nvPr/>
        </p:nvCxnSpPr>
        <p:spPr>
          <a:xfrm flipV="1">
            <a:off x="4167834" y="3491544"/>
            <a:ext cx="235916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>
            <a:stCxn id="31" idx="3"/>
            <a:endCxn id="32" idx="1"/>
          </p:cNvCxnSpPr>
          <p:nvPr/>
        </p:nvCxnSpPr>
        <p:spPr>
          <a:xfrm flipV="1">
            <a:off x="5976518" y="3491544"/>
            <a:ext cx="235915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>
            <a:stCxn id="8" idx="2"/>
            <a:endCxn id="30" idx="0"/>
          </p:cNvCxnSpPr>
          <p:nvPr/>
        </p:nvCxnSpPr>
        <p:spPr>
          <a:xfrm flipH="1">
            <a:off x="3027577" y="2547883"/>
            <a:ext cx="1730045" cy="471831"/>
          </a:xfrm>
          <a:prstGeom prst="bentConnector3">
            <a:avLst/>
          </a:prstGeom>
          <a:ln w="15875">
            <a:solidFill>
              <a:srgbClr val="40404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403750" y="4167835"/>
            <a:ext cx="1572768" cy="707745"/>
          </a:xfrm>
          <a:prstGeom prst="roundRect">
            <a:avLst>
              <a:gd name="adj" fmla="val 8000"/>
            </a:avLst>
          </a:prstGeom>
          <a:solidFill>
            <a:srgbClr val="F1ECF8"/>
          </a:solidFill>
          <a:ln w="12700">
            <a:solidFill>
              <a:srgbClr val="6A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6A3F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Released artefact 2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synthetic set → NN attack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(Eq. 15)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2433" y="4167835"/>
            <a:ext cx="1494129" cy="707745"/>
          </a:xfrm>
          <a:prstGeom prst="roundRect">
            <a:avLst>
              <a:gd name="adj" fmla="val 8000"/>
            </a:avLst>
          </a:prstGeom>
          <a:solidFill>
            <a:srgbClr val="F1ECF8"/>
          </a:solidFill>
          <a:ln w="12700">
            <a:solidFill>
              <a:srgbClr val="6A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00" b="1">
                <a:solidFill>
                  <a:srgbClr val="6A3F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Released artefact 3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classifier → confidence</a:t>
            </a:r>
          </a:p>
          <a:p>
            <a:pPr algn="ctr"/>
            <a:r>
              <a:rPr sz="950" b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attack (Eq. 16)</a:t>
            </a:r>
          </a:p>
        </p:txBody>
      </p:sp>
      <p:cxnSp>
        <p:nvCxnSpPr>
          <p:cNvPr id="39" name="Connector 38"/>
          <p:cNvCxnSpPr>
            <a:stCxn id="31" idx="2"/>
            <a:endCxn id="37" idx="0"/>
          </p:cNvCxnSpPr>
          <p:nvPr/>
        </p:nvCxnSpPr>
        <p:spPr>
          <a:xfrm flipH="1">
            <a:off x="5190134" y="3963374"/>
            <a:ext cx="0" cy="204461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>
            <a:stCxn id="32" idx="2"/>
            <a:endCxn id="38" idx="0"/>
          </p:cNvCxnSpPr>
          <p:nvPr/>
        </p:nvCxnSpPr>
        <p:spPr>
          <a:xfrm flipH="1">
            <a:off x="6959497" y="3963374"/>
            <a:ext cx="0" cy="204461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268</Words>
  <Application>Microsoft Office PowerPoint</Application>
  <PresentationFormat>Custom</PresentationFormat>
  <Paragraphs>57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Sanim Yousuf Fahim</cp:lastModifiedBy>
  <cp:revision>2</cp:revision>
  <dcterms:created xsi:type="dcterms:W3CDTF">2013-01-27T09:14:16Z</dcterms:created>
  <dcterms:modified xsi:type="dcterms:W3CDTF">2026-09-29T13:53:43Z</dcterms:modified>
  <cp:category/>
</cp:coreProperties>
</file>