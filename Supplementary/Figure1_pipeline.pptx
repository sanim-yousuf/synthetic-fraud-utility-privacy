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864475" cy="50323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730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910" y="62910"/>
            <a:ext cx="7738018" cy="135258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0342" y="62910"/>
            <a:ext cx="2030428" cy="209288"/>
          </a:xfrm>
          <a:prstGeom prst="rect">
            <a:avLst/>
          </a:prstGeom>
          <a:noFill/>
        </p:spPr>
        <p:txBody>
          <a:bodyPr wrap="none" lIns="36576" tIns="9144">
            <a:spAutoFit/>
          </a:bodyPr>
          <a:lstStyle/>
          <a:p>
            <a:r>
              <a:rPr sz="1000" b="1" i="1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and augmentation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910" y="1509857"/>
            <a:ext cx="7738018" cy="1273942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95621" y="1509857"/>
            <a:ext cx="3675109" cy="209288"/>
          </a:xfrm>
          <a:prstGeom prst="rect">
            <a:avLst/>
          </a:prstGeom>
          <a:noFill/>
        </p:spPr>
        <p:txBody>
          <a:bodyPr wrap="none" lIns="36576" tIns="9144">
            <a:spAutoFit/>
          </a:bodyPr>
          <a:lstStyle/>
          <a:p>
            <a:r>
              <a:rPr sz="1000" b="1" i="1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Utility evaluation (validation-based selection, test-set confirmation)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910" y="2878165"/>
            <a:ext cx="7738018" cy="2091781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93155" y="2878165"/>
            <a:ext cx="1632883" cy="209288"/>
          </a:xfrm>
          <a:prstGeom prst="rect">
            <a:avLst/>
          </a:prstGeom>
          <a:noFill/>
        </p:spPr>
        <p:txBody>
          <a:bodyPr wrap="none" lIns="36576" tIns="9144">
            <a:spAutoFit/>
          </a:bodyPr>
          <a:lstStyle/>
          <a:p>
            <a:r>
              <a:rPr sz="1000" b="1" i="1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audit and mitigation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7276" y="283098"/>
            <a:ext cx="1454810" cy="519013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ULB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284,807 transactions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492 frauds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7276" y="849294"/>
            <a:ext cx="1454810" cy="519013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IEEE-CIS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209 numeric features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subsample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8002" y="298825"/>
            <a:ext cx="1690725" cy="1053754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Train/test split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Stratified 70/30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 and imputation fitted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training data only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Time-ordered ULB variant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(first 70% by Time)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74643" y="298825"/>
            <a:ext cx="1572768" cy="1053754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Fit/validation split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80/20 inside the training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partition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Members: training frauds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Non-members: test frauds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83326" y="298825"/>
            <a:ext cx="2123236" cy="1053754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12700">
            <a:solidFill>
              <a:srgbClr val="C0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C07A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Augmentation methods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fitted on training frauds only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 · SMOTE · ADASYN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CTGAN · Gaussian DDPM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ratios r ∈ {0.5, 1, 2, 5, 10}×</a:t>
            </a:r>
          </a:p>
        </p:txBody>
      </p:sp>
      <p:cxnSp>
        <p:nvCxnSpPr>
          <p:cNvPr id="13" name="Connector 12"/>
          <p:cNvCxnSpPr>
            <a:stCxn id="8" idx="3"/>
            <a:endCxn id="10" idx="1"/>
          </p:cNvCxnSpPr>
          <p:nvPr/>
        </p:nvCxnSpPr>
        <p:spPr>
          <a:xfrm>
            <a:off x="1612086" y="542604"/>
            <a:ext cx="235916" cy="283098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9" idx="3"/>
            <a:endCxn id="10" idx="1"/>
          </p:cNvCxnSpPr>
          <p:nvPr/>
        </p:nvCxnSpPr>
        <p:spPr>
          <a:xfrm flipV="1">
            <a:off x="1612086" y="825702"/>
            <a:ext cx="235916" cy="283098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10" idx="3"/>
            <a:endCxn id="11" idx="1"/>
          </p:cNvCxnSpPr>
          <p:nvPr/>
        </p:nvCxnSpPr>
        <p:spPr>
          <a:xfrm flipV="1">
            <a:off x="3538727" y="825702"/>
            <a:ext cx="235916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11" idx="3"/>
            <a:endCxn id="12" idx="1"/>
          </p:cNvCxnSpPr>
          <p:nvPr/>
        </p:nvCxnSpPr>
        <p:spPr>
          <a:xfrm flipV="1">
            <a:off x="5347411" y="825702"/>
            <a:ext cx="235915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57276" y="1730044"/>
            <a:ext cx="1769364" cy="94366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2700">
            <a:solidFill>
              <a:srgbClr val="1B7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1B7F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stage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partition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seeds (IEEE-CIS: 2)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r* and threshold per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× classifier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62556" y="1730044"/>
            <a:ext cx="1769364" cy="94366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2700">
            <a:solidFill>
              <a:srgbClr val="1B7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1B7F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Confirmation stage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set, used once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fresh seeds (IEEE-CIS: 5)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generators re-fitted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every seed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7835" y="1730044"/>
            <a:ext cx="1572768" cy="943660"/>
          </a:xfrm>
          <a:prstGeom prst="roundRect">
            <a:avLst>
              <a:gd name="adj" fmla="val 0"/>
            </a:avLst>
          </a:prstGeom>
          <a:solidFill>
            <a:srgbClr val="E6F4F1"/>
          </a:solidFill>
          <a:ln w="12700">
            <a:solidFill>
              <a:srgbClr val="1B7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1B7F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Classifiers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(primary)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76518" y="1730044"/>
            <a:ext cx="1730044" cy="94366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2700">
            <a:solidFill>
              <a:srgbClr val="1B7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1B7F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Utility metrics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F1, precision, recall, MCC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AUPRC, ROC-AUC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paired Wilcoxon tests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Holm correction</a:t>
            </a:r>
          </a:p>
        </p:txBody>
      </p:sp>
      <p:cxnSp>
        <p:nvCxnSpPr>
          <p:cNvPr id="21" name="Connector 20"/>
          <p:cNvCxnSpPr>
            <a:cxnSpLocks/>
          </p:cNvCxnSpPr>
          <p:nvPr/>
        </p:nvCxnSpPr>
        <p:spPr>
          <a:xfrm rot="10800000" flipV="1">
            <a:off x="1939309" y="1461079"/>
            <a:ext cx="4718304" cy="522975"/>
          </a:xfrm>
          <a:prstGeom prst="bentConnector3">
            <a:avLst>
              <a:gd name="adj1" fmla="val 97219"/>
            </a:avLst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7" idx="3"/>
            <a:endCxn id="18" idx="1"/>
          </p:cNvCxnSpPr>
          <p:nvPr/>
        </p:nvCxnSpPr>
        <p:spPr>
          <a:xfrm flipV="1">
            <a:off x="1926640" y="2201874"/>
            <a:ext cx="235916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8" idx="3"/>
            <a:endCxn id="19" idx="1"/>
          </p:cNvCxnSpPr>
          <p:nvPr/>
        </p:nvCxnSpPr>
        <p:spPr>
          <a:xfrm>
            <a:off x="3931920" y="2201874"/>
            <a:ext cx="235915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9" idx="3"/>
            <a:endCxn id="20" idx="1"/>
          </p:cNvCxnSpPr>
          <p:nvPr/>
        </p:nvCxnSpPr>
        <p:spPr>
          <a:xfrm>
            <a:off x="5740603" y="2201874"/>
            <a:ext cx="235915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57276" y="3129808"/>
            <a:ext cx="2162556" cy="519013"/>
          </a:xfrm>
          <a:prstGeom prst="roundRect">
            <a:avLst>
              <a:gd name="adj" fmla="val 8000"/>
            </a:avLst>
          </a:prstGeom>
          <a:solidFill>
            <a:srgbClr val="F1ECF8"/>
          </a:solidFill>
          <a:ln w="12700">
            <a:solidFill>
              <a:srgbClr val="6A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6A3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Released generator (DDPM)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white-box loss attack (Eq. 14)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7276" y="3727460"/>
            <a:ext cx="2162556" cy="581924"/>
          </a:xfrm>
          <a:prstGeom prst="roundRect">
            <a:avLst>
              <a:gd name="adj" fmla="val 8000"/>
            </a:avLst>
          </a:prstGeom>
          <a:solidFill>
            <a:srgbClr val="F1ECF8"/>
          </a:solidFill>
          <a:ln w="12700">
            <a:solidFill>
              <a:srgbClr val="6A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6A3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Released synthetic set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five methods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 attack, k = 1, 5 (Eq. 15)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7276" y="4388022"/>
            <a:ext cx="2162556" cy="519013"/>
          </a:xfrm>
          <a:prstGeom prst="roundRect">
            <a:avLst>
              <a:gd name="adj" fmla="val 8000"/>
            </a:avLst>
          </a:prstGeom>
          <a:solidFill>
            <a:srgbClr val="F1ECF8"/>
          </a:solidFill>
          <a:ln w="12700">
            <a:solidFill>
              <a:srgbClr val="6A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6A3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Released classifier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attack (Eq. 16)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95067" y="3129808"/>
            <a:ext cx="1730044" cy="1777227"/>
          </a:xfrm>
          <a:prstGeom prst="roundRect">
            <a:avLst>
              <a:gd name="adj" fmla="val 8000"/>
            </a:avLst>
          </a:prstGeom>
          <a:solidFill>
            <a:srgbClr val="F1ECF8"/>
          </a:solidFill>
          <a:ln w="12700">
            <a:solidFill>
              <a:srgbClr val="6A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6A3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Membership-inference AUC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± SD over seeds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 95% CI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permutation chance band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exact-copy share</a:t>
            </a:r>
          </a:p>
        </p:txBody>
      </p:sp>
      <p:cxnSp>
        <p:nvCxnSpPr>
          <p:cNvPr id="29" name="Connector 28"/>
          <p:cNvCxnSpPr>
            <a:stCxn id="25" idx="3"/>
            <a:endCxn id="28" idx="1"/>
          </p:cNvCxnSpPr>
          <p:nvPr/>
        </p:nvCxnSpPr>
        <p:spPr>
          <a:xfrm>
            <a:off x="2319832" y="3389314"/>
            <a:ext cx="275235" cy="629107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26" idx="3"/>
            <a:endCxn id="28" idx="1"/>
          </p:cNvCxnSpPr>
          <p:nvPr/>
        </p:nvCxnSpPr>
        <p:spPr>
          <a:xfrm flipV="1">
            <a:off x="2319832" y="4018421"/>
            <a:ext cx="275235" cy="1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27" idx="3"/>
            <a:endCxn id="28" idx="1"/>
          </p:cNvCxnSpPr>
          <p:nvPr/>
        </p:nvCxnSpPr>
        <p:spPr>
          <a:xfrm flipV="1">
            <a:off x="2319832" y="4018421"/>
            <a:ext cx="275235" cy="629107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600346" y="3129808"/>
            <a:ext cx="1572768" cy="849294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B03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DP-SGD (Opacus)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 ∈ {0.5, 1, 2, 4}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and lightweight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denoisers + non-DP reference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00346" y="4057741"/>
            <a:ext cx="1572768" cy="849294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B03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Data-scale study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IEEE-CIS n = 344 to 4,000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 vs. epochs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held-out early stopping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9029" y="3129808"/>
            <a:ext cx="1297533" cy="1777227"/>
          </a:xfrm>
          <a:prstGeom prst="roundRect">
            <a:avLst>
              <a:gd name="adj" fmla="val 8000"/>
            </a:avLst>
          </a:prstGeom>
          <a:solidFill>
            <a:srgbClr val="FFF9D6"/>
          </a:solidFill>
          <a:ln w="12700">
            <a:solidFill>
              <a:srgbClr val="7F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1">
                <a:solidFill>
                  <a:srgbClr val="7F6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Utility–privacy trade-off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 released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artefact and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cxnSp>
        <p:nvCxnSpPr>
          <p:cNvPr id="35" name="Connector 34"/>
          <p:cNvCxnSpPr>
            <a:stCxn id="28" idx="3"/>
            <a:endCxn id="32" idx="1"/>
          </p:cNvCxnSpPr>
          <p:nvPr/>
        </p:nvCxnSpPr>
        <p:spPr>
          <a:xfrm flipV="1">
            <a:off x="4325111" y="3554455"/>
            <a:ext cx="275235" cy="46396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28" idx="3"/>
            <a:endCxn id="33" idx="1"/>
          </p:cNvCxnSpPr>
          <p:nvPr/>
        </p:nvCxnSpPr>
        <p:spPr>
          <a:xfrm>
            <a:off x="4325111" y="4018421"/>
            <a:ext cx="275235" cy="463967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32" idx="3"/>
            <a:endCxn id="34" idx="1"/>
          </p:cNvCxnSpPr>
          <p:nvPr/>
        </p:nvCxnSpPr>
        <p:spPr>
          <a:xfrm>
            <a:off x="6173114" y="3554455"/>
            <a:ext cx="235915" cy="46396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33" idx="3"/>
            <a:endCxn id="34" idx="1"/>
          </p:cNvCxnSpPr>
          <p:nvPr/>
        </p:nvCxnSpPr>
        <p:spPr>
          <a:xfrm flipV="1">
            <a:off x="6173114" y="4018421"/>
            <a:ext cx="235915" cy="463967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stCxn id="20" idx="2"/>
            <a:endCxn id="34" idx="0"/>
          </p:cNvCxnSpPr>
          <p:nvPr/>
        </p:nvCxnSpPr>
        <p:spPr>
          <a:xfrm>
            <a:off x="6841540" y="2673704"/>
            <a:ext cx="216255" cy="456104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18" idx="2"/>
            <a:endCxn id="25" idx="0"/>
          </p:cNvCxnSpPr>
          <p:nvPr/>
        </p:nvCxnSpPr>
        <p:spPr>
          <a:xfrm flipH="1">
            <a:off x="1238554" y="2673704"/>
            <a:ext cx="1808684" cy="456104"/>
          </a:xfrm>
          <a:prstGeom prst="bentConnector3">
            <a:avLst/>
          </a:prstGeom>
          <a:ln w="15875">
            <a:solidFill>
              <a:srgbClr val="6A3FA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D94BCDD-E9F1-1212-F1A2-E6F944FC7C47}"/>
              </a:ext>
            </a:extLst>
          </p:cNvPr>
          <p:cNvCxnSpPr>
            <a:cxnSpLocks/>
          </p:cNvCxnSpPr>
          <p:nvPr/>
        </p:nvCxnSpPr>
        <p:spPr>
          <a:xfrm>
            <a:off x="6648754" y="1352579"/>
            <a:ext cx="0" cy="117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269</Words>
  <Application>Microsoft Office PowerPoint</Application>
  <PresentationFormat>Custom</PresentationFormat>
  <Paragraphs>69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Sanim Yousuf Fahim</cp:lastModifiedBy>
  <cp:revision>3</cp:revision>
  <dcterms:created xsi:type="dcterms:W3CDTF">2013-01-27T09:14:16Z</dcterms:created>
  <dcterms:modified xsi:type="dcterms:W3CDTF">2026-09-29T13:56:33Z</dcterms:modified>
  <cp:category/>
</cp:coreProperties>
</file>